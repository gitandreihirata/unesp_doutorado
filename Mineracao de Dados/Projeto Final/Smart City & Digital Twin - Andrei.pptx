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1" r:id="rId4"/>
    <p:sldId id="259" r:id="rId5"/>
    <p:sldId id="263" r:id="rId6"/>
    <p:sldId id="262" r:id="rId7"/>
    <p:sldId id="264" r:id="rId8"/>
    <p:sldId id="265" r:id="rId9"/>
    <p:sldId id="266" r:id="rId10"/>
    <p:sldId id="267" r:id="rId11"/>
    <p:sldId id="270" r:id="rId12"/>
    <p:sldId id="271" r:id="rId13"/>
    <p:sldId id="268" r:id="rId14"/>
    <p:sldId id="269" r:id="rId15"/>
    <p:sldId id="272" r:id="rId16"/>
    <p:sldId id="274" r:id="rId17"/>
    <p:sldId id="273" r:id="rId18"/>
    <p:sldId id="260" r:id="rId19"/>
    <p:sldId id="258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7A6"/>
    <a:srgbClr val="BA2D1C"/>
    <a:srgbClr val="EAB05C"/>
    <a:srgbClr val="FFE4BD"/>
    <a:srgbClr val="CB8E3D"/>
    <a:srgbClr val="FFF0D5"/>
    <a:srgbClr val="047D9E"/>
    <a:srgbClr val="06ACDC"/>
    <a:srgbClr val="FFE7BD"/>
    <a:srgbClr val="3EC2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710" autoAdjust="0"/>
  </p:normalViewPr>
  <p:slideViewPr>
    <p:cSldViewPr>
      <p:cViewPr>
        <p:scale>
          <a:sx n="125" d="100"/>
          <a:sy n="125" d="100"/>
        </p:scale>
        <p:origin x="960" y="3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E520FA-7B27-4DEE-A6B5-A01F5A1C2F88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1184EA9-A81A-45AA-B0BD-6994B5C88555}">
      <dgm:prSet phldrT="[Texto]"/>
      <dgm:spPr/>
      <dgm:t>
        <a:bodyPr/>
        <a:lstStyle/>
        <a:p>
          <a:pPr>
            <a:buNone/>
          </a:pPr>
          <a:r>
            <a:rPr lang="pt-BR" dirty="0"/>
            <a:t>Mundo Real</a:t>
          </a:r>
        </a:p>
      </dgm:t>
    </dgm:pt>
    <dgm:pt modelId="{712FEAE2-6C5B-4153-9417-F093EF0A6B62}" type="parTrans" cxnId="{882863F6-4482-4154-8D56-A30E791E4B75}">
      <dgm:prSet/>
      <dgm:spPr/>
      <dgm:t>
        <a:bodyPr/>
        <a:lstStyle/>
        <a:p>
          <a:endParaRPr lang="pt-BR"/>
        </a:p>
      </dgm:t>
    </dgm:pt>
    <dgm:pt modelId="{73AE142E-BB4D-4841-A021-09919895169F}" type="sibTrans" cxnId="{882863F6-4482-4154-8D56-A30E791E4B75}">
      <dgm:prSet/>
      <dgm:spPr/>
      <dgm:t>
        <a:bodyPr/>
        <a:lstStyle/>
        <a:p>
          <a:endParaRPr lang="pt-BR"/>
        </a:p>
      </dgm:t>
    </dgm:pt>
    <dgm:pt modelId="{ABDD7ECE-907A-4712-AD44-E90F5B31297B}">
      <dgm:prSet phldrT="[Texto]"/>
      <dgm:spPr/>
      <dgm:t>
        <a:bodyPr/>
        <a:lstStyle/>
        <a:p>
          <a:pPr>
            <a:buNone/>
          </a:pPr>
          <a:r>
            <a:rPr lang="pt-BR" dirty="0"/>
            <a:t>Coleta de Dados</a:t>
          </a:r>
        </a:p>
      </dgm:t>
    </dgm:pt>
    <dgm:pt modelId="{F400CE0A-2B12-4365-A50F-C3A0A613D7EE}" type="parTrans" cxnId="{A30A1017-7BFE-43AE-922E-ED3E8EF01370}">
      <dgm:prSet/>
      <dgm:spPr/>
      <dgm:t>
        <a:bodyPr/>
        <a:lstStyle/>
        <a:p>
          <a:endParaRPr lang="pt-BR"/>
        </a:p>
      </dgm:t>
    </dgm:pt>
    <dgm:pt modelId="{4D388B7A-DEB9-45E2-9C13-595EE17A5F25}" type="sibTrans" cxnId="{A30A1017-7BFE-43AE-922E-ED3E8EF01370}">
      <dgm:prSet/>
      <dgm:spPr/>
      <dgm:t>
        <a:bodyPr/>
        <a:lstStyle/>
        <a:p>
          <a:endParaRPr lang="pt-BR"/>
        </a:p>
      </dgm:t>
    </dgm:pt>
    <dgm:pt modelId="{1AF113FD-81EC-47A1-8437-422251144AF1}">
      <dgm:prSet phldrT="[Texto]"/>
      <dgm:spPr/>
      <dgm:t>
        <a:bodyPr/>
        <a:lstStyle/>
        <a:p>
          <a:pPr>
            <a:buNone/>
          </a:pPr>
          <a:r>
            <a:rPr lang="pt-BR" dirty="0"/>
            <a:t>Gêmeo Digital</a:t>
          </a:r>
        </a:p>
      </dgm:t>
    </dgm:pt>
    <dgm:pt modelId="{08C84781-B972-4102-8084-95FBD81E54B8}" type="parTrans" cxnId="{081CE034-FBD4-42AF-B02F-E37C8028D187}">
      <dgm:prSet/>
      <dgm:spPr/>
      <dgm:t>
        <a:bodyPr/>
        <a:lstStyle/>
        <a:p>
          <a:endParaRPr lang="pt-BR"/>
        </a:p>
      </dgm:t>
    </dgm:pt>
    <dgm:pt modelId="{7364A281-809D-4F7C-AA24-8BB975A9BEF4}" type="sibTrans" cxnId="{081CE034-FBD4-42AF-B02F-E37C8028D187}">
      <dgm:prSet/>
      <dgm:spPr/>
      <dgm:t>
        <a:bodyPr/>
        <a:lstStyle/>
        <a:p>
          <a:endParaRPr lang="pt-BR"/>
        </a:p>
      </dgm:t>
    </dgm:pt>
    <dgm:pt modelId="{0794C11C-DB32-42EA-92AA-5892A6EBF686}">
      <dgm:prSet phldrT="[Texto]"/>
      <dgm:spPr/>
      <dgm:t>
        <a:bodyPr/>
        <a:lstStyle/>
        <a:p>
          <a:pPr>
            <a:buNone/>
          </a:pPr>
          <a:r>
            <a:rPr lang="pt-BR" dirty="0"/>
            <a:t>Análise e Simulação</a:t>
          </a:r>
        </a:p>
      </dgm:t>
    </dgm:pt>
    <dgm:pt modelId="{C998CA40-5864-4004-B365-3AA781F56054}" type="parTrans" cxnId="{94717EC0-94F0-4E9D-AD31-CF272912F6EE}">
      <dgm:prSet/>
      <dgm:spPr/>
      <dgm:t>
        <a:bodyPr/>
        <a:lstStyle/>
        <a:p>
          <a:endParaRPr lang="pt-BR"/>
        </a:p>
      </dgm:t>
    </dgm:pt>
    <dgm:pt modelId="{6C2DC9F9-68F2-4EB0-A100-5FC9684D7A1F}" type="sibTrans" cxnId="{94717EC0-94F0-4E9D-AD31-CF272912F6EE}">
      <dgm:prSet/>
      <dgm:spPr/>
      <dgm:t>
        <a:bodyPr/>
        <a:lstStyle/>
        <a:p>
          <a:endParaRPr lang="pt-BR"/>
        </a:p>
      </dgm:t>
    </dgm:pt>
    <dgm:pt modelId="{54C517ED-E00D-48B5-BD73-582BA53D1C70}">
      <dgm:prSet phldrT="[Texto]"/>
      <dgm:spPr/>
      <dgm:t>
        <a:bodyPr/>
        <a:lstStyle/>
        <a:p>
          <a:pPr>
            <a:buNone/>
          </a:pPr>
          <a:r>
            <a:rPr lang="pt-BR" dirty="0"/>
            <a:t>Insights para o Mundo Real</a:t>
          </a:r>
        </a:p>
      </dgm:t>
    </dgm:pt>
    <dgm:pt modelId="{DBE0F805-A140-4CEE-871B-DCB61530EEA7}" type="parTrans" cxnId="{2326566F-7160-4C80-8D9E-0EC5AE719F1D}">
      <dgm:prSet/>
      <dgm:spPr/>
      <dgm:t>
        <a:bodyPr/>
        <a:lstStyle/>
        <a:p>
          <a:endParaRPr lang="pt-BR"/>
        </a:p>
      </dgm:t>
    </dgm:pt>
    <dgm:pt modelId="{612C8520-05EA-42E1-8D54-B6E21C35E002}" type="sibTrans" cxnId="{2326566F-7160-4C80-8D9E-0EC5AE719F1D}">
      <dgm:prSet/>
      <dgm:spPr/>
      <dgm:t>
        <a:bodyPr/>
        <a:lstStyle/>
        <a:p>
          <a:endParaRPr lang="pt-BR"/>
        </a:p>
      </dgm:t>
    </dgm:pt>
    <dgm:pt modelId="{14DB5FCC-1E7C-457D-958A-A0C33EB89209}" type="pres">
      <dgm:prSet presAssocID="{0EE520FA-7B27-4DEE-A6B5-A01F5A1C2F88}" presName="Name0" presStyleCnt="0">
        <dgm:presLayoutVars>
          <dgm:dir/>
          <dgm:resizeHandles val="exact"/>
        </dgm:presLayoutVars>
      </dgm:prSet>
      <dgm:spPr/>
    </dgm:pt>
    <dgm:pt modelId="{14A21912-7520-4164-8043-F9D60F503EC4}" type="pres">
      <dgm:prSet presAssocID="{21184EA9-A81A-45AA-B0BD-6994B5C88555}" presName="parAndChTx" presStyleLbl="node1" presStyleIdx="0" presStyleCnt="3">
        <dgm:presLayoutVars>
          <dgm:bulletEnabled val="1"/>
        </dgm:presLayoutVars>
      </dgm:prSet>
      <dgm:spPr/>
    </dgm:pt>
    <dgm:pt modelId="{7A67E949-ED96-4FFA-99BC-CC6FBB0FEFF5}" type="pres">
      <dgm:prSet presAssocID="{73AE142E-BB4D-4841-A021-09919895169F}" presName="parAndChSpace" presStyleCnt="0"/>
      <dgm:spPr/>
    </dgm:pt>
    <dgm:pt modelId="{CC4D0A10-C3EA-423D-BC4D-B96B7CC4CF60}" type="pres">
      <dgm:prSet presAssocID="{1AF113FD-81EC-47A1-8437-422251144AF1}" presName="parAndChTx" presStyleLbl="node1" presStyleIdx="1" presStyleCnt="3">
        <dgm:presLayoutVars>
          <dgm:bulletEnabled val="1"/>
        </dgm:presLayoutVars>
      </dgm:prSet>
      <dgm:spPr/>
    </dgm:pt>
    <dgm:pt modelId="{227EF843-3F4F-4519-80E4-23EB0EEAD447}" type="pres">
      <dgm:prSet presAssocID="{7364A281-809D-4F7C-AA24-8BB975A9BEF4}" presName="parAndChSpace" presStyleCnt="0"/>
      <dgm:spPr/>
    </dgm:pt>
    <dgm:pt modelId="{C19D46D3-B915-456F-9CE5-D70CCA17DE4E}" type="pres">
      <dgm:prSet presAssocID="{54C517ED-E00D-48B5-BD73-582BA53D1C70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04B4310D-485B-4700-89E9-2E27D9AE4738}" type="presOf" srcId="{54C517ED-E00D-48B5-BD73-582BA53D1C70}" destId="{C19D46D3-B915-456F-9CE5-D70CCA17DE4E}" srcOrd="0" destOrd="0" presId="urn:microsoft.com/office/officeart/2005/8/layout/hChevron3"/>
    <dgm:cxn modelId="{A30A1017-7BFE-43AE-922E-ED3E8EF01370}" srcId="{21184EA9-A81A-45AA-B0BD-6994B5C88555}" destId="{ABDD7ECE-907A-4712-AD44-E90F5B31297B}" srcOrd="0" destOrd="0" parTransId="{F400CE0A-2B12-4365-A50F-C3A0A613D7EE}" sibTransId="{4D388B7A-DEB9-45E2-9C13-595EE17A5F25}"/>
    <dgm:cxn modelId="{B5246F1A-763C-4A00-9F03-ADD589B87301}" type="presOf" srcId="{0794C11C-DB32-42EA-92AA-5892A6EBF686}" destId="{CC4D0A10-C3EA-423D-BC4D-B96B7CC4CF60}" srcOrd="0" destOrd="1" presId="urn:microsoft.com/office/officeart/2005/8/layout/hChevron3"/>
    <dgm:cxn modelId="{5437DC1A-0D5B-4B71-8E02-ECB9F1DD009C}" type="presOf" srcId="{1AF113FD-81EC-47A1-8437-422251144AF1}" destId="{CC4D0A10-C3EA-423D-BC4D-B96B7CC4CF60}" srcOrd="0" destOrd="0" presId="urn:microsoft.com/office/officeart/2005/8/layout/hChevron3"/>
    <dgm:cxn modelId="{081CE034-FBD4-42AF-B02F-E37C8028D187}" srcId="{0EE520FA-7B27-4DEE-A6B5-A01F5A1C2F88}" destId="{1AF113FD-81EC-47A1-8437-422251144AF1}" srcOrd="1" destOrd="0" parTransId="{08C84781-B972-4102-8084-95FBD81E54B8}" sibTransId="{7364A281-809D-4F7C-AA24-8BB975A9BEF4}"/>
    <dgm:cxn modelId="{CC4FE86E-255D-439F-B59F-C45C85536EA7}" type="presOf" srcId="{ABDD7ECE-907A-4712-AD44-E90F5B31297B}" destId="{14A21912-7520-4164-8043-F9D60F503EC4}" srcOrd="0" destOrd="1" presId="urn:microsoft.com/office/officeart/2005/8/layout/hChevron3"/>
    <dgm:cxn modelId="{2326566F-7160-4C80-8D9E-0EC5AE719F1D}" srcId="{0EE520FA-7B27-4DEE-A6B5-A01F5A1C2F88}" destId="{54C517ED-E00D-48B5-BD73-582BA53D1C70}" srcOrd="2" destOrd="0" parTransId="{DBE0F805-A140-4CEE-871B-DCB61530EEA7}" sibTransId="{612C8520-05EA-42E1-8D54-B6E21C35E002}"/>
    <dgm:cxn modelId="{A8350394-C122-45ED-8539-B7C041969C3B}" type="presOf" srcId="{21184EA9-A81A-45AA-B0BD-6994B5C88555}" destId="{14A21912-7520-4164-8043-F9D60F503EC4}" srcOrd="0" destOrd="0" presId="urn:microsoft.com/office/officeart/2005/8/layout/hChevron3"/>
    <dgm:cxn modelId="{B28D0296-82AC-4CF3-80FD-F60616750972}" type="presOf" srcId="{0EE520FA-7B27-4DEE-A6B5-A01F5A1C2F88}" destId="{14DB5FCC-1E7C-457D-958A-A0C33EB89209}" srcOrd="0" destOrd="0" presId="urn:microsoft.com/office/officeart/2005/8/layout/hChevron3"/>
    <dgm:cxn modelId="{94717EC0-94F0-4E9D-AD31-CF272912F6EE}" srcId="{1AF113FD-81EC-47A1-8437-422251144AF1}" destId="{0794C11C-DB32-42EA-92AA-5892A6EBF686}" srcOrd="0" destOrd="0" parTransId="{C998CA40-5864-4004-B365-3AA781F56054}" sibTransId="{6C2DC9F9-68F2-4EB0-A100-5FC9684D7A1F}"/>
    <dgm:cxn modelId="{882863F6-4482-4154-8D56-A30E791E4B75}" srcId="{0EE520FA-7B27-4DEE-A6B5-A01F5A1C2F88}" destId="{21184EA9-A81A-45AA-B0BD-6994B5C88555}" srcOrd="0" destOrd="0" parTransId="{712FEAE2-6C5B-4153-9417-F093EF0A6B62}" sibTransId="{73AE142E-BB4D-4841-A021-09919895169F}"/>
    <dgm:cxn modelId="{4041AB8F-F0F3-4293-8FB1-6FBEC2E4D8E3}" type="presParOf" srcId="{14DB5FCC-1E7C-457D-958A-A0C33EB89209}" destId="{14A21912-7520-4164-8043-F9D60F503EC4}" srcOrd="0" destOrd="0" presId="urn:microsoft.com/office/officeart/2005/8/layout/hChevron3"/>
    <dgm:cxn modelId="{81848736-3D77-4B6F-A94D-2FC1F4F50E59}" type="presParOf" srcId="{14DB5FCC-1E7C-457D-958A-A0C33EB89209}" destId="{7A67E949-ED96-4FFA-99BC-CC6FBB0FEFF5}" srcOrd="1" destOrd="0" presId="urn:microsoft.com/office/officeart/2005/8/layout/hChevron3"/>
    <dgm:cxn modelId="{398EF9C9-0186-4577-B908-FCFA0D6AD01D}" type="presParOf" srcId="{14DB5FCC-1E7C-457D-958A-A0C33EB89209}" destId="{CC4D0A10-C3EA-423D-BC4D-B96B7CC4CF60}" srcOrd="2" destOrd="0" presId="urn:microsoft.com/office/officeart/2005/8/layout/hChevron3"/>
    <dgm:cxn modelId="{53DDFF4E-4BE2-4F18-933C-BE9B14702A47}" type="presParOf" srcId="{14DB5FCC-1E7C-457D-958A-A0C33EB89209}" destId="{227EF843-3F4F-4519-80E4-23EB0EEAD447}" srcOrd="3" destOrd="0" presId="urn:microsoft.com/office/officeart/2005/8/layout/hChevron3"/>
    <dgm:cxn modelId="{51BE13BB-9EC7-4601-B1AC-AB337E442FCF}" type="presParOf" srcId="{14DB5FCC-1E7C-457D-958A-A0C33EB89209}" destId="{C19D46D3-B915-456F-9CE5-D70CCA17DE4E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A21912-7520-4164-8043-F9D60F503EC4}">
      <dsp:nvSpPr>
        <dsp:cNvPr id="0" name=""/>
        <dsp:cNvSpPr/>
      </dsp:nvSpPr>
      <dsp:spPr>
        <a:xfrm>
          <a:off x="2756" y="0"/>
          <a:ext cx="2410662" cy="569020"/>
        </a:xfrm>
        <a:prstGeom prst="homePlate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043" tIns="40640" rIns="340171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Mundo Real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200" kern="1200" dirty="0"/>
            <a:t>Coleta de Dados</a:t>
          </a:r>
        </a:p>
      </dsp:txBody>
      <dsp:txXfrm>
        <a:off x="2756" y="0"/>
        <a:ext cx="2339535" cy="569020"/>
      </dsp:txXfrm>
    </dsp:sp>
    <dsp:sp modelId="{CC4D0A10-C3EA-423D-BC4D-B96B7CC4CF60}">
      <dsp:nvSpPr>
        <dsp:cNvPr id="0" name=""/>
        <dsp:cNvSpPr/>
      </dsp:nvSpPr>
      <dsp:spPr>
        <a:xfrm>
          <a:off x="1931286" y="0"/>
          <a:ext cx="2410662" cy="569020"/>
        </a:xfrm>
        <a:prstGeom prst="chevron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043" tIns="40640" rIns="85043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Gêmeo Digital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200" kern="1200" dirty="0"/>
            <a:t>Análise e Simulação</a:t>
          </a:r>
        </a:p>
      </dsp:txBody>
      <dsp:txXfrm>
        <a:off x="2073541" y="0"/>
        <a:ext cx="2126152" cy="569020"/>
      </dsp:txXfrm>
    </dsp:sp>
    <dsp:sp modelId="{C19D46D3-B915-456F-9CE5-D70CCA17DE4E}">
      <dsp:nvSpPr>
        <dsp:cNvPr id="0" name=""/>
        <dsp:cNvSpPr/>
      </dsp:nvSpPr>
      <dsp:spPr>
        <a:xfrm>
          <a:off x="3859816" y="0"/>
          <a:ext cx="2410662" cy="569020"/>
        </a:xfrm>
        <a:prstGeom prst="chevron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043" tIns="40640" rIns="85043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Insights para o Mundo Real</a:t>
          </a:r>
        </a:p>
      </dsp:txBody>
      <dsp:txXfrm>
        <a:off x="4002071" y="0"/>
        <a:ext cx="2126152" cy="569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"Bom dia a todos. Meu projeto é o </a:t>
            </a:r>
            <a:r>
              <a:rPr lang="pt-BR" dirty="0" err="1"/>
              <a:t>SmartCitySystem</a:t>
            </a:r>
            <a:r>
              <a:rPr lang="pt-BR" dirty="0"/>
              <a:t>. O objetivo deste trabalho foi construir um Gêmeo Digital funcional, capaz não apenas de simular uma cidade em 3D, mas também de integrar dados do mundo real e aplicar modelos de mineração de dados para gerar previsões e detectar anomalias."</a:t>
            </a:r>
          </a:p>
          <a:p>
            <a:r>
              <a:rPr lang="pt-BR" dirty="0"/>
              <a:t>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36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"Para contextualizar, um Gêmeo Digital é um clone virtual de um sistema. A motivação do meu trabalho foi aplicar esse conceito a uma cidade, que é um dos sistemas mais complexos que temos. O valor disso está em poder testar cenários: 'O que acontece se esta rua for fechada?' ou 'Qual será a qualidade do ar amanhã?'."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90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"O problema central é a integração.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Meu objetivo foi construir um sistema que resolvesse isso, focando em três recursos principais, que são as minhas atividades da disciplina: um replay de clima, uma detecção de outlier para tráfego e uma classificação de qualidade do ar."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8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"Na minha revisão, encontrei trabalhos que focavam ou na simulação 3D, ou na análise de tráfego, ou na análise de poluição. A lacuna que meu projeto preenche é a </a:t>
            </a:r>
            <a:r>
              <a:rPr lang="pt-BR" i="1" dirty="0"/>
              <a:t>integração</a:t>
            </a:r>
            <a:r>
              <a:rPr lang="pt-BR" dirty="0"/>
              <a:t> de todas essas frentes em uma plataforma única e funcional."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19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o projeto funcionar, usei alguns conceitos-chave. A Unity é o cliente. O Node.js é o cérebro (servidor). E o mais importante, para o Machine Learning, usei o Node.js para </a:t>
            </a:r>
            <a:r>
              <a:rPr lang="pt-BR" i="1" dirty="0"/>
              <a:t>chamar</a:t>
            </a:r>
            <a:r>
              <a:rPr lang="pt-BR" dirty="0"/>
              <a:t> scripts Python diretamente, o que é uma arquitetura muito leve e eficiente.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91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núcleo do trabalho são essas três técnicas de mineração de dados.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o tráfego, usei o LOF.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a qualidade do ar, usei o Random Forest para classificar,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SMOTE para corrigir o desbalanceamento dos dados, o que foi a Atividade 4."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33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Esta é a arquitetura completa do sistema.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Unity (cliente) só conversa com a API Node.js.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 O Node.js é o 'maestro': ele busca dados no </a:t>
            </a:r>
            <a:r>
              <a:rPr lang="pt-BR" dirty="0" err="1"/>
              <a:t>MongoDB</a:t>
            </a:r>
            <a:r>
              <a:rPr lang="pt-BR" dirty="0"/>
              <a:t> e, quando precisa de inteligência, ele executa um script Python, pega a resposta (JSON) e a devolve para a Unity.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 Tudo de forma assíncrona."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07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metodologia foi dividida em três pipelines de dados. Este fluxograma, por exemplo, mostra o pipeline da Qualidade do Ar: o catalogador lê os arquivos CSV, salva no Mongo, a API lê o Mongo, e a Unity consome a API para popular os filtros.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8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metodologia foi dividida em três pipelines. Vou focar no Pipeline 1: O catalogador..." (Descrever um deles brevemente).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06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46850-1364-61EA-C90A-9647044B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F234FC-6F11-F56E-4DC7-E268CE35A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F05D11-3B49-ED26-1C18-061F799FC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metodologia foi dividida em três pipelines. Vou focar no Pipeline 1: O catalogador..." (Descrever um deles brevemente).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0C813D-C9C2-6CDD-17A1-985F467C7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68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primeiro resultado foi o Replay de Clima.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desafio eram os dados massivos. A solução foi um catálogo </a:t>
            </a:r>
            <a:r>
              <a:rPr lang="pt-BR" dirty="0" err="1"/>
              <a:t>sob-demanda</a:t>
            </a:r>
            <a:r>
              <a:rPr lang="pt-BR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Como veremos na demo, a UI filtra anos e regiões instantaneamente, e o sistema só baixa o dado quando o usuário pede.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73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a Atividade 3, o objetivo era detectar outliers no tráfego. Eu treinei o modelo com dados normais e, para testar, forcei uma anomalia. O resultado foi que o sistema identificou o carro parado e criou um incidente visual na simulação.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6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a Atividade de Classificação, tivemos um desafio: a API da CETESB estava bloqueada.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solução foi criar um pipeline de dados 100% local, baseado em arquivos CSV.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resultado é que o sistema importa esses dados e o relógio da simulação agora prevê a qualidade do ar a cada hora."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91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Aqui está o resultado da Atividade 4. À esquerda, os dados originais. À direita, os dados balanceados pelo SMOTE. Mas o mais interessante é o resultado: o modelo ficou ótimo em prever 'Boa', mas péssimo em prever 'Alerta'. Isso não é um erro, é uma descoberta: o modelo aprendeu que 'chutar' Boa é a aposta mais segura. Isso mostra que só o SMOTE não é suficiente; precisaríamos de mais dados.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74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 conclusão, o projeto atingiu todos os objetivos, criando um sistema integrado. As atividades de mineração de dados foram validadas. Como trabalhos futuros, eu gostaria de usar as predições para mudar a simulação e, como uma ideia extra, gerar um dashboard em HTML com explicações de IA."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1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75" y="1655520"/>
            <a:ext cx="7635250" cy="106893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374" y="2724455"/>
            <a:ext cx="7635249" cy="610820"/>
          </a:xfrm>
        </p:spPr>
        <p:txBody>
          <a:bodyPr>
            <a:normAutofit/>
          </a:bodyPr>
          <a:lstStyle>
            <a:lvl1pPr marL="0" indent="0" algn="ctr">
              <a:buNone/>
              <a:defRPr sz="2800" b="0" i="0">
                <a:solidFill>
                  <a:srgbClr val="DD87A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1995"/>
            <a:ext cx="8286617" cy="916230"/>
          </a:xfrm>
        </p:spPr>
        <p:txBody>
          <a:bodyPr>
            <a:normAutofit/>
          </a:bodyPr>
          <a:lstStyle>
            <a:lvl1pPr algn="ctr">
              <a:defRPr sz="3600" baseline="0">
                <a:solidFill>
                  <a:srgbClr val="DD87A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8225"/>
            <a:ext cx="8286617" cy="2917175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281175"/>
            <a:ext cx="6425940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BA2D1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044700"/>
            <a:ext cx="6405375" cy="3410190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880" y="891995"/>
            <a:ext cx="8075311" cy="871876"/>
          </a:xfrm>
        </p:spPr>
        <p:txBody>
          <a:bodyPr>
            <a:normAutofit/>
          </a:bodyPr>
          <a:lstStyle>
            <a:lvl1pPr algn="ctr">
              <a:defRPr sz="3600" u="none" baseline="0">
                <a:solidFill>
                  <a:srgbClr val="DD87A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9" y="1745435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80" y="2314078"/>
            <a:ext cx="4035120" cy="2427818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745434"/>
            <a:ext cx="4041775" cy="56864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1" y="2314077"/>
            <a:ext cx="4041775" cy="2427819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2400" dirty="0" err="1"/>
              <a:t>SmartCitySystem</a:t>
            </a:r>
            <a:r>
              <a:rPr lang="pt-BR" sz="2400" dirty="0"/>
              <a:t>: Um Gêmeo Digital para Simulação Urbana e Análise de Dados de Mineração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pt-BR" sz="1800" dirty="0"/>
              <a:t>Aluno(a): Andrei Inoue Hirata</a:t>
            </a:r>
          </a:p>
          <a:p>
            <a:r>
              <a:rPr lang="pt-BR" sz="1800" dirty="0" err="1"/>
              <a:t>Prof</a:t>
            </a:r>
            <a:r>
              <a:rPr lang="pt-BR" sz="1800" dirty="0"/>
              <a:t>(a): Veronica Oliveira de Carvalho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Assuntos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Integração de Simulação 3D (Unity),</a:t>
            </a:r>
          </a:p>
          <a:p>
            <a:r>
              <a:rPr lang="pt-BR" dirty="0"/>
              <a:t>Geração de dados</a:t>
            </a:r>
          </a:p>
          <a:p>
            <a:r>
              <a:rPr lang="pt-BR" dirty="0"/>
              <a:t>Importação de Dados Reais (INMET)</a:t>
            </a:r>
          </a:p>
          <a:p>
            <a:r>
              <a:rPr lang="pt-BR" dirty="0"/>
              <a:t>Modelos de Machine Learning (Python/Node.js)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0E59-8242-757D-219E-0208E567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F64799-0231-B097-F7CA-DEDC20FD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Introdução e Contexto (a.1)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B309CB-6E02-5525-6A82-EBEA1347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/>
              <a:t>Definição: </a:t>
            </a:r>
            <a:r>
              <a:rPr lang="pt-BR" dirty="0"/>
              <a:t>Gêmeo Digital (Digital Twin) </a:t>
            </a:r>
          </a:p>
          <a:p>
            <a:pPr lvl="1"/>
            <a:r>
              <a:rPr lang="pt-BR" dirty="0"/>
              <a:t>é uma réplica virtual de um sistema físico (um objeto, um processo ou, neste caso, uma cidade).</a:t>
            </a:r>
          </a:p>
          <a:p>
            <a:r>
              <a:rPr lang="pt-BR" b="1" dirty="0"/>
              <a:t>Por que Cidades? </a:t>
            </a:r>
          </a:p>
          <a:p>
            <a:pPr lvl="1"/>
            <a:r>
              <a:rPr lang="pt-BR" dirty="0"/>
              <a:t>Cidades são sistemas complexos com milhões de variáveis interconectadas (tráfego, clima, poluição, pessoas).</a:t>
            </a:r>
          </a:p>
          <a:p>
            <a:r>
              <a:rPr lang="pt-BR" b="1" dirty="0"/>
              <a:t>Motivação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Poder testar cenários, prever problemas (como congestionamentos ou picos de poluição) e planejar mudanças em um ambiente virtual, sem custos ou riscos do mundo real.</a:t>
            </a:r>
            <a:endParaRPr lang="en-US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C395653-D4EF-693B-A05C-0E764BC1A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3590307"/>
              </p:ext>
            </p:extLst>
          </p:nvPr>
        </p:nvGraphicFramePr>
        <p:xfrm>
          <a:off x="778573" y="4454890"/>
          <a:ext cx="6273235" cy="569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372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Problema e Objetivos (a.1)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Problema:</a:t>
            </a:r>
            <a:r>
              <a:rPr lang="pt-BR" dirty="0"/>
              <a:t> Como integrar, em uma única plataforma, uma simulação 3D interativa (visual) com fontes de dados heterogêneas (climáticos) e modelos preditivos de ML (tráfego e poluição)?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B01EF-1E97-05E8-67DA-C0BADE54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B67C4D-B0ED-069E-C6FA-94DEA5C65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/>
              <a:t>Problema e Objetivos (a.1)</a:t>
            </a:r>
            <a:endParaRPr lang="pt-BR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48DE70-BD15-5844-D1DF-00BC15538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/>
              <a:t>Objetivo Geral:</a:t>
            </a:r>
            <a:r>
              <a:rPr lang="pt-BR"/>
              <a:t> Desenvolver o "SmartCitySystem", uma plataforma que simula cidades inteligentes</a:t>
            </a:r>
          </a:p>
          <a:p>
            <a:r>
              <a:rPr lang="pt-BR" b="1"/>
              <a:t>Objetivos Específicos:</a:t>
            </a:r>
          </a:p>
          <a:p>
            <a:pPr lvl="1"/>
            <a:r>
              <a:rPr lang="pt-BR"/>
              <a:t>Implementar um replay de dados climáticos históricos (INMET) sob-demanda.</a:t>
            </a:r>
          </a:p>
          <a:p>
            <a:pPr lvl="1"/>
            <a:r>
              <a:rPr lang="pt-BR"/>
              <a:t>(Atividade 3) Aplicar Mineração de Dados para Detecção de Outliers no tráfego (usando LOF).</a:t>
            </a:r>
          </a:p>
          <a:p>
            <a:pPr lvl="1"/>
            <a:r>
              <a:rPr lang="pt-BR"/>
              <a:t>(Atividade 2 &amp; 4) Aplicar Mineração de Dados para Classificação da Qualidade do Ar (usando RandomForest e SMOTE).</a:t>
            </a:r>
            <a:endParaRPr lang="pt-BR" dirty="0"/>
          </a:p>
        </p:txBody>
      </p:sp>
      <p:pic>
        <p:nvPicPr>
          <p:cNvPr id="3" name="Imagem 2" descr="Vista de cidade com por do sol no fundo&#10;&#10;O conteúdo gerado por IA pode estar incorreto.">
            <a:extLst>
              <a:ext uri="{FF2B5EF4-FFF2-40B4-BE49-F238E27FC236}">
                <a16:creationId xmlns:a16="http://schemas.microsoft.com/office/drawing/2014/main" id="{2B8E0C9A-463A-4B31-A180-7E8F314116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510" y="55367"/>
            <a:ext cx="1068935" cy="106893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m 6" descr="Tela de computador com texto preto sobre gramado&#10;&#10;O conteúdo gerado por IA pode estar incorreto.">
            <a:extLst>
              <a:ext uri="{FF2B5EF4-FFF2-40B4-BE49-F238E27FC236}">
                <a16:creationId xmlns:a16="http://schemas.microsoft.com/office/drawing/2014/main" id="{A7A18EDC-80E8-985F-75A5-F403F90032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509" y="1350110"/>
            <a:ext cx="1068935" cy="106893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m 8" descr="Foto em preto e branco de fumaça no céu&#10;&#10;O conteúdo gerado por IA pode estar incorreto.">
            <a:extLst>
              <a:ext uri="{FF2B5EF4-FFF2-40B4-BE49-F238E27FC236}">
                <a16:creationId xmlns:a16="http://schemas.microsoft.com/office/drawing/2014/main" id="{5D21B36E-AA51-D4D9-899C-DCA61D2BD1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509" y="2571750"/>
            <a:ext cx="1068935" cy="106893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m 10" descr="Palco com luzes azuis&#10;&#10;O conteúdo gerado por IA pode estar incorreto.">
            <a:extLst>
              <a:ext uri="{FF2B5EF4-FFF2-40B4-BE49-F238E27FC236}">
                <a16:creationId xmlns:a16="http://schemas.microsoft.com/office/drawing/2014/main" id="{6CF75E30-A050-486E-C4D3-AB260791D19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799" y="3793390"/>
            <a:ext cx="1197405" cy="119740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587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8828C-0454-C8F8-818E-EBFF3084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EA6F11-17C6-58E9-B508-B05DDFC0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Trabalhos Relacionados (a.2)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B70662-530F-C74F-094A-05053D81E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b="1" dirty="0"/>
              <a:t>Simulação 3D e Gêmeos Digitais:</a:t>
            </a:r>
            <a:r>
              <a:rPr lang="pt-BR" dirty="0"/>
              <a:t> Muitos projetos usam Unity para simulação (Unity, 2025; </a:t>
            </a:r>
            <a:r>
              <a:rPr lang="pt-BR" dirty="0" err="1"/>
              <a:t>Espona</a:t>
            </a:r>
            <a:r>
              <a:rPr lang="pt-BR" dirty="0"/>
              <a:t>, 2023), mas historicamente focam na indústria (robótica, manufatura) e não na integração de dados ambientais urbanos em tempo real.</a:t>
            </a:r>
          </a:p>
          <a:p>
            <a:r>
              <a:rPr lang="pt-BR" b="1" dirty="0"/>
              <a:t>Análise de Dados de Tráfego:</a:t>
            </a:r>
            <a:r>
              <a:rPr lang="pt-BR" dirty="0"/>
              <a:t> (Cruz et al., 2017) aplicam algoritmos como o LOF (Local Outlier Factor) para detectar anomalias em dados de tráfego, mas geralmente em análises </a:t>
            </a:r>
            <a:r>
              <a:rPr lang="pt-BR" i="1" dirty="0"/>
              <a:t>offline</a:t>
            </a:r>
            <a:r>
              <a:rPr lang="pt-BR" dirty="0"/>
              <a:t>, sem uma visualização 3D integrada.</a:t>
            </a:r>
          </a:p>
          <a:p>
            <a:r>
              <a:rPr lang="pt-BR" b="1" dirty="0"/>
              <a:t>Análise de Qualidade do Ar:</a:t>
            </a:r>
            <a:r>
              <a:rPr lang="pt-BR" dirty="0"/>
              <a:t> (Vianna Jr. et al., 2025) usam ML para classificar dados da CETESB, e outros (Della-Justina, 2023) focam especificamente no desafio de </a:t>
            </a:r>
            <a:r>
              <a:rPr lang="pt-BR" b="1" dirty="0"/>
              <a:t>dados desbalanceados</a:t>
            </a:r>
            <a:r>
              <a:rPr lang="pt-BR" dirty="0"/>
              <a:t> (como fizemos com o SMOTE).</a:t>
            </a:r>
          </a:p>
          <a:p>
            <a:r>
              <a:rPr lang="pt-BR" b="1" dirty="0"/>
              <a:t>Esse projeto:</a:t>
            </a:r>
            <a:r>
              <a:rPr lang="pt-BR" dirty="0"/>
              <a:t> A literatura carece de projetos que unam essas </a:t>
            </a:r>
            <a:r>
              <a:rPr lang="pt-BR" i="1" dirty="0"/>
              <a:t>três</a:t>
            </a:r>
            <a:r>
              <a:rPr lang="pt-BR" dirty="0"/>
              <a:t> frentes: (1) simulação 3D interativa, (2) detecção de outlier em tempo real e (3) classificação de qualidade do ar em um único sistema coeso (Unity + Node.js + Python).</a:t>
            </a:r>
          </a:p>
        </p:txBody>
      </p:sp>
    </p:spTree>
    <p:extLst>
      <p:ext uri="{BB962C8B-B14F-4D97-AF65-F5344CB8AC3E}">
        <p14:creationId xmlns:p14="http://schemas.microsoft.com/office/powerpoint/2010/main" val="3798165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91C0-DD4C-1FB9-0F1D-64126169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F33C68-C7F8-7638-4B4A-96D83FE37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Fundamentos (a.3) - Conceitos Chave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3392EB-EA20-6EC1-043E-AFD946A34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/>
              <a:t>Arquitetura Cliente-Servidor:</a:t>
            </a:r>
            <a:endParaRPr lang="pt-BR" dirty="0"/>
          </a:p>
          <a:p>
            <a:pPr lvl="1"/>
            <a:r>
              <a:rPr lang="pt-BR" b="1" dirty="0"/>
              <a:t>Cliente (</a:t>
            </a:r>
            <a:r>
              <a:rPr lang="pt-BR" b="1" dirty="0" err="1"/>
              <a:t>Frontend</a:t>
            </a:r>
            <a:r>
              <a:rPr lang="pt-BR" b="1" dirty="0"/>
              <a:t>):</a:t>
            </a:r>
            <a:r>
              <a:rPr lang="pt-BR" dirty="0"/>
              <a:t> Unity 3D (para visualização e interação).</a:t>
            </a:r>
          </a:p>
          <a:p>
            <a:pPr lvl="1"/>
            <a:r>
              <a:rPr lang="pt-BR" b="1" dirty="0"/>
              <a:t>Servidor (</a:t>
            </a:r>
            <a:r>
              <a:rPr lang="pt-BR" b="1" dirty="0" err="1"/>
              <a:t>Backend</a:t>
            </a:r>
            <a:r>
              <a:rPr lang="pt-BR" b="1" dirty="0"/>
              <a:t>):</a:t>
            </a:r>
            <a:r>
              <a:rPr lang="pt-BR" dirty="0"/>
              <a:t> Node.js (API "Maestro" que gerencia as requisições).</a:t>
            </a:r>
          </a:p>
          <a:p>
            <a:r>
              <a:rPr lang="pt-BR" b="1" dirty="0"/>
              <a:t>Microsserviços de ML via </a:t>
            </a:r>
            <a:r>
              <a:rPr lang="pt-BR" b="1" dirty="0" err="1"/>
              <a:t>child_process</a:t>
            </a:r>
            <a:r>
              <a:rPr lang="pt-BR" b="1" dirty="0"/>
              <a:t>:</a:t>
            </a:r>
            <a:endParaRPr lang="pt-BR" dirty="0"/>
          </a:p>
          <a:p>
            <a:pPr lvl="1"/>
            <a:r>
              <a:rPr lang="pt-BR" dirty="0"/>
              <a:t>Em vez de um servidor </a:t>
            </a:r>
            <a:r>
              <a:rPr lang="pt-BR" dirty="0" err="1"/>
              <a:t>Flask</a:t>
            </a:r>
            <a:r>
              <a:rPr lang="pt-BR" dirty="0"/>
              <a:t>/Python separado, o Node.js executa scripts Python (.</a:t>
            </a:r>
            <a:r>
              <a:rPr lang="pt-BR" dirty="0" err="1"/>
              <a:t>py</a:t>
            </a:r>
            <a:r>
              <a:rPr lang="pt-BR" dirty="0"/>
              <a:t>) </a:t>
            </a:r>
            <a:r>
              <a:rPr lang="pt-BR" dirty="0" err="1"/>
              <a:t>sob-demanda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Vantagem: Mais leve, mais simples de hospedar (apenas 1 servidor) e eficiente.</a:t>
            </a:r>
          </a:p>
          <a:p>
            <a:r>
              <a:rPr lang="pt-BR" b="1" dirty="0"/>
              <a:t>Banco de Dados:</a:t>
            </a:r>
            <a:r>
              <a:rPr lang="pt-BR" dirty="0"/>
              <a:t> </a:t>
            </a:r>
            <a:r>
              <a:rPr lang="pt-BR" dirty="0" err="1"/>
              <a:t>MongoDB</a:t>
            </a:r>
            <a:r>
              <a:rPr lang="pt-BR" dirty="0"/>
              <a:t> (Banco </a:t>
            </a:r>
            <a:r>
              <a:rPr lang="pt-BR" dirty="0" err="1"/>
              <a:t>NoSQL</a:t>
            </a:r>
            <a:r>
              <a:rPr lang="pt-BR" dirty="0"/>
              <a:t> ideal para armazenar os dados JSON).</a:t>
            </a:r>
          </a:p>
        </p:txBody>
      </p:sp>
    </p:spTree>
    <p:extLst>
      <p:ext uri="{BB962C8B-B14F-4D97-AF65-F5344CB8AC3E}">
        <p14:creationId xmlns:p14="http://schemas.microsoft.com/office/powerpoint/2010/main" val="138956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96C0-54BE-DB44-DE7A-F8B4634FF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B4CB18-C027-A662-9660-0330F6CA2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/>
              <a:t>Fundamentos (a.3) - Mineração de Dados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584944-7353-6CD5-30F7-D3E847347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b="1" dirty="0"/>
              <a:t>Atividade 3: Detecção de Outliers (LOF):</a:t>
            </a:r>
            <a:endParaRPr lang="pt-BR" dirty="0"/>
          </a:p>
          <a:p>
            <a:pPr lvl="1"/>
            <a:r>
              <a:rPr lang="pt-BR" dirty="0"/>
              <a:t>Um algoritmo que encontra anomalias.</a:t>
            </a:r>
          </a:p>
          <a:p>
            <a:pPr lvl="1"/>
            <a:r>
              <a:rPr lang="pt-BR" dirty="0"/>
              <a:t>Ele é excelente em encontrar "outliers de densidade". </a:t>
            </a:r>
            <a:r>
              <a:rPr lang="pt-BR" dirty="0" err="1"/>
              <a:t>Ex</a:t>
            </a:r>
            <a:r>
              <a:rPr lang="pt-BR" dirty="0"/>
              <a:t>: Um carro parado (</a:t>
            </a:r>
            <a:r>
              <a:rPr lang="pt-BR" dirty="0" err="1"/>
              <a:t>avgTimeOnSensor</a:t>
            </a:r>
            <a:r>
              <a:rPr lang="pt-BR" dirty="0"/>
              <a:t> alto) em um tráfego que flui (</a:t>
            </a:r>
            <a:r>
              <a:rPr lang="pt-BR" dirty="0" err="1"/>
              <a:t>vehicleCount</a:t>
            </a:r>
            <a:r>
              <a:rPr lang="pt-BR" dirty="0"/>
              <a:t> baixo) é uma anomalia de densidade.</a:t>
            </a:r>
          </a:p>
          <a:p>
            <a:r>
              <a:rPr lang="pt-BR" b="1" dirty="0"/>
              <a:t>Atividade 2: Classificação (Random Forest):</a:t>
            </a:r>
            <a:endParaRPr lang="pt-BR" dirty="0"/>
          </a:p>
          <a:p>
            <a:pPr lvl="1"/>
            <a:r>
              <a:rPr lang="pt-BR" dirty="0"/>
              <a:t>Um modelo que aprende a prever uma classe (</a:t>
            </a:r>
            <a:r>
              <a:rPr lang="pt-BR" dirty="0" err="1"/>
              <a:t>ex</a:t>
            </a:r>
            <a:r>
              <a:rPr lang="pt-BR" dirty="0"/>
              <a:t>: "Boa", "Moderada", "Alerta").</a:t>
            </a:r>
          </a:p>
          <a:p>
            <a:r>
              <a:rPr lang="pt-BR" b="1" dirty="0"/>
              <a:t>Atividade 4: Dados Desbalanceados (SMOTE):</a:t>
            </a:r>
            <a:endParaRPr lang="pt-BR" dirty="0"/>
          </a:p>
          <a:p>
            <a:pPr lvl="1"/>
            <a:r>
              <a:rPr lang="pt-BR" dirty="0"/>
              <a:t>O problema de ter poucos exemplos de classes raras (</a:t>
            </a:r>
            <a:r>
              <a:rPr lang="pt-BR" dirty="0" err="1"/>
              <a:t>ex</a:t>
            </a:r>
            <a:r>
              <a:rPr lang="pt-BR" dirty="0"/>
              <a:t>: 100 dias "Bons" para cada 1 dia "Alerta").</a:t>
            </a:r>
          </a:p>
          <a:p>
            <a:pPr lvl="1"/>
            <a:r>
              <a:rPr lang="pt-BR" dirty="0"/>
              <a:t>Ele cria "exemplos sintéticos" das classes raras, forçando o modelo a aprender a detectá-las.</a:t>
            </a:r>
          </a:p>
        </p:txBody>
      </p:sp>
    </p:spTree>
    <p:extLst>
      <p:ext uri="{BB962C8B-B14F-4D97-AF65-F5344CB8AC3E}">
        <p14:creationId xmlns:p14="http://schemas.microsoft.com/office/powerpoint/2010/main" val="2624036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64ED-E573-E99E-A622-7637CA10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BEC58A-EC22-8808-9094-8EAFC532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000" b="1" dirty="0"/>
              <a:t>Metodologia (a.4) - Arquitetura do Sistema</a:t>
            </a:r>
          </a:p>
        </p:txBody>
      </p:sp>
      <p:pic>
        <p:nvPicPr>
          <p:cNvPr id="8" name="Espaço Reservado para Conteúdo 7" descr="Diagrama&#10;&#10;O conteúdo gerado por IA pode estar incorreto.">
            <a:extLst>
              <a:ext uri="{FF2B5EF4-FFF2-40B4-BE49-F238E27FC236}">
                <a16:creationId xmlns:a16="http://schemas.microsoft.com/office/drawing/2014/main" id="{CCCF7792-38B6-1DC4-BBB2-631B78BC1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59" b="94629" l="9961" r="89974">
                        <a14:foregroundMark x1="48503" y1="24902" x2="48503" y2="24902"/>
                        <a14:foregroundMark x1="49870" y1="12988" x2="49870" y2="12988"/>
                        <a14:foregroundMark x1="43490" y1="11816" x2="54818" y2="11816"/>
                        <a14:foregroundMark x1="41732" y1="19531" x2="57747" y2="20410"/>
                        <a14:foregroundMark x1="41797" y1="53613" x2="54622" y2="53320"/>
                        <a14:foregroundMark x1="54622" y1="53320" x2="57747" y2="53320"/>
                        <a14:foregroundMark x1="43424" y1="57617" x2="56510" y2="58594"/>
                        <a14:foregroundMark x1="48698" y1="64453" x2="48698" y2="64453"/>
                        <a14:foregroundMark x1="48112" y1="71387" x2="48112" y2="71387"/>
                        <a14:foregroundMark x1="46159" y1="69727" x2="56576" y2="68457"/>
                        <a14:foregroundMark x1="37565" y1="58789" x2="50521" y2="50879"/>
                        <a14:foregroundMark x1="50521" y1="50879" x2="61328" y2="57910"/>
                        <a14:foregroundMark x1="61328" y1="57910" x2="51302" y2="67676"/>
                        <a14:foregroundMark x1="51302" y1="67676" x2="39258" y2="65039"/>
                        <a14:foregroundMark x1="39258" y1="65039" x2="38411" y2="62695"/>
                        <a14:foregroundMark x1="39648" y1="34180" x2="41862" y2="17480"/>
                        <a14:foregroundMark x1="41862" y1="17480" x2="58073" y2="19727"/>
                        <a14:foregroundMark x1="58073" y1="19727" x2="57227" y2="35449"/>
                        <a14:foregroundMark x1="66081" y1="26172" x2="57682" y2="8496"/>
                        <a14:foregroundMark x1="57682" y1="8496" x2="43229" y2="8008"/>
                        <a14:foregroundMark x1="43229" y1="8008" x2="31771" y2="17578"/>
                        <a14:foregroundMark x1="31771" y1="17578" x2="39063" y2="28613"/>
                        <a14:foregroundMark x1="39063" y1="28613" x2="54232" y2="28906"/>
                        <a14:foregroundMark x1="54232" y1="28906" x2="44727" y2="21289"/>
                        <a14:foregroundMark x1="44727" y1="21289" x2="39453" y2="21680"/>
                        <a14:foregroundMark x1="35742" y1="60547" x2="50977" y2="73242"/>
                        <a14:foregroundMark x1="50977" y1="73242" x2="61523" y2="64160"/>
                        <a14:foregroundMark x1="61523" y1="64160" x2="44922" y2="53613"/>
                        <a14:foregroundMark x1="44922" y1="53613" x2="32292" y2="53027"/>
                        <a14:foregroundMark x1="32292" y1="53027" x2="36328" y2="68750"/>
                        <a14:foregroundMark x1="36328" y1="68750" x2="64714" y2="72852"/>
                        <a14:foregroundMark x1="64714" y1="72852" x2="65885" y2="53320"/>
                        <a14:foregroundMark x1="65104" y1="91016" x2="37826" y2="86035"/>
                        <a14:foregroundMark x1="37826" y1="86035" x2="51237" y2="91699"/>
                        <a14:foregroundMark x1="51237" y1="91699" x2="67448" y2="90332"/>
                        <a14:foregroundMark x1="55404" y1="71191" x2="44922" y2="66895"/>
                        <a14:foregroundMark x1="44922" y1="66895" x2="49544" y2="60059"/>
                        <a14:foregroundMark x1="33268" y1="86719" x2="44987" y2="92188"/>
                        <a14:foregroundMark x1="44987" y1="92188" x2="57161" y2="91211"/>
                        <a14:foregroundMark x1="57161" y1="91211" x2="31706" y2="87012"/>
                        <a14:foregroundMark x1="31706" y1="87012" x2="40560" y2="95117"/>
                        <a14:foregroundMark x1="40560" y1="95117" x2="55794" y2="94629"/>
                        <a14:foregroundMark x1="55794" y1="94629" x2="64258" y2="88965"/>
                        <a14:foregroundMark x1="44922" y1="35254" x2="55078" y2="29395"/>
                        <a14:foregroundMark x1="59245" y1="30859" x2="43945" y2="34180"/>
                        <a14:foregroundMark x1="43945" y1="34180" x2="53776" y2="19531"/>
                        <a14:foregroundMark x1="53776" y1="19531" x2="44857" y2="15234"/>
                        <a14:foregroundMark x1="44857" y1="15234" x2="53320" y2="9570"/>
                        <a14:foregroundMark x1="41081" y1="52051" x2="52669" y2="55273"/>
                        <a14:foregroundMark x1="52669" y1="55273" x2="44401" y2="70605"/>
                        <a14:foregroundMark x1="44401" y1="70605" x2="54297" y2="72949"/>
                        <a14:foregroundMark x1="54297" y1="72949" x2="45508" y2="58496"/>
                        <a14:foregroundMark x1="45508" y1="58496" x2="34570" y2="51270"/>
                        <a14:foregroundMark x1="34570" y1="51270" x2="30273" y2="65234"/>
                        <a14:foregroundMark x1="30273" y1="65234" x2="37630" y2="71484"/>
                        <a14:foregroundMark x1="82031" y1="54395" x2="82031" y2="54395"/>
                        <a14:foregroundMark x1="82031" y1="54395" x2="78971" y2="54395"/>
                        <a14:foregroundMark x1="80013" y1="56641" x2="83854" y2="56836"/>
                        <a14:foregroundMark x1="74674" y1="56836" x2="74674" y2="56836"/>
                        <a14:foregroundMark x1="74674" y1="56836" x2="74077" y2="57018"/>
                        <a14:foregroundMark x1="52083" y1="18945" x2="47135" y2="6836"/>
                        <a14:foregroundMark x1="47135" y1="6836" x2="43359" y2="5859"/>
                        <a14:foregroundMark x1="33789" y1="73535" x2="29622" y2="60938"/>
                        <a14:foregroundMark x1="29622" y1="60938" x2="29492" y2="57617"/>
                        <a14:foregroundMark x1="29492" y1="57617" x2="45768" y2="55176"/>
                        <a14:foregroundMark x1="45768" y1="55176" x2="57943" y2="59375"/>
                        <a14:foregroundMark x1="57943" y1="59375" x2="44596" y2="55078"/>
                        <a14:foregroundMark x1="42383" y1="28711" x2="52669" y2="26367"/>
                        <a14:foregroundMark x1="52669" y1="26367" x2="42057" y2="10742"/>
                        <a14:foregroundMark x1="42057" y1="10742" x2="56836" y2="18652"/>
                        <a14:backgroundMark x1="25391" y1="38672" x2="25391" y2="38672"/>
                        <a14:backgroundMark x1="25391" y1="38672" x2="25391" y2="38672"/>
                        <a14:backgroundMark x1="25391" y1="38672" x2="25391" y2="38672"/>
                        <a14:backgroundMark x1="17773" y1="14551" x2="17839" y2="81934"/>
                        <a14:backgroundMark x1="70508" y1="57715" x2="73242" y2="586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360" y="1044940"/>
            <a:ext cx="5114925" cy="3409950"/>
          </a:xfrm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CFE38B2-2E18-E862-F6AD-AB3C965A9C6E}"/>
              </a:ext>
            </a:extLst>
          </p:cNvPr>
          <p:cNvSpPr txBox="1">
            <a:spLocks/>
          </p:cNvSpPr>
          <p:nvPr/>
        </p:nvSpPr>
        <p:spPr>
          <a:xfrm>
            <a:off x="601670" y="1044699"/>
            <a:ext cx="3817625" cy="35122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[CLIENTE (Unity)]</a:t>
            </a:r>
            <a:r>
              <a:rPr lang="pt-BR" dirty="0"/>
              <a:t> -&gt; (JSON via HTTP) -&gt; </a:t>
            </a:r>
            <a:r>
              <a:rPr lang="pt-BR" b="1" dirty="0"/>
              <a:t>[BACKEND (Node.js API)]</a:t>
            </a:r>
            <a:endParaRPr lang="pt-BR" dirty="0"/>
          </a:p>
          <a:p>
            <a:r>
              <a:rPr lang="pt-BR" b="1" dirty="0"/>
              <a:t>[BACKEND (Node.js API)]</a:t>
            </a:r>
            <a:r>
              <a:rPr lang="pt-BR" dirty="0"/>
              <a:t> &lt;-&gt; </a:t>
            </a:r>
            <a:r>
              <a:rPr lang="pt-BR" b="1" dirty="0"/>
              <a:t>[BANCO (</a:t>
            </a:r>
            <a:r>
              <a:rPr lang="pt-BR" b="1" dirty="0" err="1"/>
              <a:t>MongoDB</a:t>
            </a:r>
            <a:r>
              <a:rPr lang="pt-BR" b="1" dirty="0"/>
              <a:t>)]</a:t>
            </a:r>
            <a:r>
              <a:rPr lang="pt-BR" dirty="0"/>
              <a:t> (Para salvar/ler dados dos sensores e catálogos)</a:t>
            </a:r>
          </a:p>
          <a:p>
            <a:r>
              <a:rPr lang="pt-BR" b="1" dirty="0"/>
              <a:t>[BACKEND (Node.js API)]</a:t>
            </a:r>
            <a:r>
              <a:rPr lang="pt-BR" dirty="0"/>
              <a:t> -&gt; (Chama </a:t>
            </a:r>
            <a:r>
              <a:rPr lang="pt-BR" dirty="0" err="1"/>
              <a:t>child_process</a:t>
            </a:r>
            <a:r>
              <a:rPr lang="pt-BR" dirty="0"/>
              <a:t>) -&gt; </a:t>
            </a:r>
            <a:r>
              <a:rPr lang="pt-BR" b="1" dirty="0"/>
              <a:t>[ML (Python Scripts)]</a:t>
            </a:r>
            <a:endParaRPr lang="pt-BR" dirty="0"/>
          </a:p>
          <a:p>
            <a:r>
              <a:rPr lang="pt-BR" b="1" dirty="0"/>
              <a:t>[ML (Python Scripts)]</a:t>
            </a:r>
            <a:r>
              <a:rPr lang="pt-BR" dirty="0"/>
              <a:t> -&gt; (Lê/Salva .</a:t>
            </a:r>
            <a:r>
              <a:rPr lang="pt-BR" dirty="0" err="1"/>
              <a:t>joblib</a:t>
            </a:r>
            <a:r>
              <a:rPr lang="pt-BR" dirty="0"/>
              <a:t>) -&gt; </a:t>
            </a:r>
            <a:r>
              <a:rPr lang="pt-BR" b="1" dirty="0"/>
              <a:t>[Modelos Treinados]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109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43EC-340F-EAF6-8635-D89989CF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5B2D92-3867-8094-A06D-8D60CE35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/>
              <a:t>Metodologia (a.4) - Pipeline de Dados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24FDE2-0151-EACF-FB67-112C65FC9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71" y="1044699"/>
            <a:ext cx="2595984" cy="3970331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Pipeline 1: </a:t>
            </a:r>
            <a:r>
              <a:rPr lang="en-US" dirty="0" err="1"/>
              <a:t>Clima</a:t>
            </a:r>
            <a:r>
              <a:rPr lang="en-US" dirty="0"/>
              <a:t> (INMET)</a:t>
            </a:r>
          </a:p>
          <a:p>
            <a:pPr lvl="1"/>
            <a:r>
              <a:rPr lang="en-US" dirty="0" err="1"/>
              <a:t>Catalogador</a:t>
            </a:r>
            <a:r>
              <a:rPr lang="en-US" dirty="0"/>
              <a:t> (</a:t>
            </a:r>
            <a:r>
              <a:rPr lang="en-US" i="1" dirty="0"/>
              <a:t>build_catalog.js</a:t>
            </a:r>
            <a:r>
              <a:rPr lang="en-US" dirty="0"/>
              <a:t>) </a:t>
            </a:r>
            <a:r>
              <a:rPr lang="en-US" dirty="0" err="1"/>
              <a:t>lê</a:t>
            </a:r>
            <a:r>
              <a:rPr lang="en-US" dirty="0"/>
              <a:t> ZIPs e </a:t>
            </a:r>
            <a:r>
              <a:rPr lang="en-US" dirty="0" err="1"/>
              <a:t>salva</a:t>
            </a:r>
            <a:r>
              <a:rPr lang="en-US" dirty="0"/>
              <a:t> no Mongo.</a:t>
            </a:r>
          </a:p>
          <a:p>
            <a:pPr lvl="1"/>
            <a:r>
              <a:rPr lang="en-US" dirty="0"/>
              <a:t>Unity (UI) </a:t>
            </a:r>
            <a:r>
              <a:rPr lang="en-US" dirty="0" err="1"/>
              <a:t>lê</a:t>
            </a:r>
            <a:r>
              <a:rPr lang="en-US" dirty="0"/>
              <a:t> o </a:t>
            </a:r>
            <a:r>
              <a:rPr lang="en-US" dirty="0" err="1"/>
              <a:t>catálogo</a:t>
            </a:r>
            <a:r>
              <a:rPr lang="en-US" dirty="0"/>
              <a:t> via API </a:t>
            </a:r>
            <a:r>
              <a:rPr lang="en-US" i="1" dirty="0"/>
              <a:t>(/filters/years...</a:t>
            </a:r>
            <a:r>
              <a:rPr lang="en-US" dirty="0"/>
              <a:t>).</a:t>
            </a:r>
          </a:p>
          <a:p>
            <a:pPr lvl="1"/>
            <a:r>
              <a:rPr lang="en-US" dirty="0" err="1"/>
              <a:t>Usuário</a:t>
            </a:r>
            <a:r>
              <a:rPr lang="en-US" dirty="0"/>
              <a:t> </a:t>
            </a:r>
            <a:r>
              <a:rPr lang="en-US" dirty="0" err="1"/>
              <a:t>clica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"</a:t>
            </a:r>
            <a:r>
              <a:rPr lang="en-US" dirty="0" err="1"/>
              <a:t>Importar</a:t>
            </a:r>
            <a:r>
              <a:rPr lang="en-US" dirty="0"/>
              <a:t>".</a:t>
            </a:r>
          </a:p>
          <a:p>
            <a:pPr lvl="1"/>
            <a:r>
              <a:rPr lang="en-US" dirty="0"/>
              <a:t>API (</a:t>
            </a:r>
            <a:r>
              <a:rPr lang="en-US" i="1" dirty="0"/>
              <a:t>/import/station</a:t>
            </a:r>
            <a:r>
              <a:rPr lang="en-US" dirty="0"/>
              <a:t>) </a:t>
            </a:r>
            <a:r>
              <a:rPr lang="en-US" dirty="0" err="1"/>
              <a:t>baixa</a:t>
            </a:r>
            <a:r>
              <a:rPr lang="en-US" dirty="0"/>
              <a:t> o ZIP, </a:t>
            </a:r>
            <a:r>
              <a:rPr lang="en-US" dirty="0" err="1"/>
              <a:t>processa</a:t>
            </a:r>
            <a:r>
              <a:rPr lang="en-US" dirty="0"/>
              <a:t> o CSV (csvProcessor.js) e </a:t>
            </a:r>
            <a:r>
              <a:rPr lang="en-US" dirty="0" err="1"/>
              <a:t>salva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 no Mongo.</a:t>
            </a:r>
          </a:p>
          <a:p>
            <a:pPr lvl="1"/>
            <a:r>
              <a:rPr lang="en-US" dirty="0"/>
              <a:t>Unity (</a:t>
            </a:r>
            <a:r>
              <a:rPr lang="en-US" dirty="0" err="1"/>
              <a:t>SimulationClock</a:t>
            </a:r>
            <a:r>
              <a:rPr lang="en-US" dirty="0"/>
              <a:t>) </a:t>
            </a:r>
            <a:r>
              <a:rPr lang="en-US" dirty="0" err="1"/>
              <a:t>lê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 do Mongo via API (</a:t>
            </a:r>
            <a:r>
              <a:rPr lang="en-US" i="1" dirty="0"/>
              <a:t>/replay</a:t>
            </a:r>
            <a:r>
              <a:rPr lang="en-US" dirty="0"/>
              <a:t>) e </a:t>
            </a:r>
            <a:r>
              <a:rPr lang="en-US" dirty="0" err="1"/>
              <a:t>muda</a:t>
            </a:r>
            <a:r>
              <a:rPr lang="en-US" dirty="0"/>
              <a:t> o </a:t>
            </a:r>
            <a:r>
              <a:rPr lang="en-US" dirty="0" err="1"/>
              <a:t>clima</a:t>
            </a:r>
            <a:r>
              <a:rPr lang="en-US" dirty="0"/>
              <a:t>.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719C60-C581-8B46-9144-E34BF3DC18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360" y="1502815"/>
            <a:ext cx="38576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3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D6DA-7374-01EE-B464-F86DB4CD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B7CDEF-3C0A-5E73-3306-86D8A2CC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/>
              <a:t>Metodologia (a.4) - Pipeline de Dados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57DB71-6312-6CFB-4D9A-9B037E202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70" y="1044700"/>
            <a:ext cx="2595985" cy="3970330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Pipeline 2: Outlier (</a:t>
            </a:r>
            <a:r>
              <a:rPr lang="en-US" dirty="0" err="1"/>
              <a:t>Tráfego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Unity (</a:t>
            </a:r>
            <a:r>
              <a:rPr lang="en-US" dirty="0" err="1"/>
              <a:t>VehicleCounterSensor</a:t>
            </a:r>
            <a:r>
              <a:rPr lang="en-US" dirty="0"/>
              <a:t>) </a:t>
            </a:r>
            <a:r>
              <a:rPr lang="en-US" dirty="0" err="1"/>
              <a:t>gera</a:t>
            </a:r>
            <a:r>
              <a:rPr lang="en-US" dirty="0"/>
              <a:t> dados (</a:t>
            </a:r>
            <a:r>
              <a:rPr lang="en-US" dirty="0" err="1"/>
              <a:t>Contagem</a:t>
            </a:r>
            <a:r>
              <a:rPr lang="en-US" dirty="0"/>
              <a:t>, Tempo) e </a:t>
            </a:r>
            <a:r>
              <a:rPr lang="en-US" dirty="0" err="1"/>
              <a:t>salva</a:t>
            </a:r>
            <a:r>
              <a:rPr lang="en-US" dirty="0"/>
              <a:t> no Mongo.</a:t>
            </a:r>
          </a:p>
          <a:p>
            <a:pPr lvl="1"/>
            <a:r>
              <a:rPr lang="en-US" dirty="0" err="1"/>
              <a:t>Usuário</a:t>
            </a:r>
            <a:r>
              <a:rPr lang="en-US" dirty="0"/>
              <a:t> </a:t>
            </a:r>
            <a:r>
              <a:rPr lang="en-US" dirty="0" err="1"/>
              <a:t>clica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"</a:t>
            </a:r>
            <a:r>
              <a:rPr lang="en-US" dirty="0" err="1"/>
              <a:t>Treinar</a:t>
            </a:r>
            <a:r>
              <a:rPr lang="en-US" dirty="0"/>
              <a:t> Outlier".</a:t>
            </a:r>
          </a:p>
          <a:p>
            <a:pPr lvl="1"/>
            <a:r>
              <a:rPr lang="en-US" dirty="0"/>
              <a:t>API (</a:t>
            </a:r>
            <a:r>
              <a:rPr lang="en-US" i="1" dirty="0"/>
              <a:t>/ml/train/outlier</a:t>
            </a:r>
            <a:r>
              <a:rPr lang="en-US" dirty="0"/>
              <a:t>) chama o train_outlier_model.py.</a:t>
            </a:r>
          </a:p>
          <a:p>
            <a:pPr lvl="1"/>
            <a:r>
              <a:rPr lang="en-US" dirty="0"/>
              <a:t>Script Python </a:t>
            </a:r>
            <a:r>
              <a:rPr lang="en-US" dirty="0" err="1"/>
              <a:t>treina</a:t>
            </a:r>
            <a:r>
              <a:rPr lang="en-US" dirty="0"/>
              <a:t> (LOF) e </a:t>
            </a:r>
            <a:r>
              <a:rPr lang="en-US" dirty="0" err="1"/>
              <a:t>salva</a:t>
            </a:r>
            <a:r>
              <a:rPr lang="en-US" dirty="0"/>
              <a:t> o </a:t>
            </a:r>
            <a:r>
              <a:rPr lang="en-US" dirty="0" err="1"/>
              <a:t>lof_model.joblib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Unity (Sensor) chama a API (</a:t>
            </a:r>
            <a:r>
              <a:rPr lang="en-US" i="1" dirty="0"/>
              <a:t>/ml/predict/outlier</a:t>
            </a:r>
            <a:r>
              <a:rPr lang="en-US" dirty="0"/>
              <a:t>) </a:t>
            </a:r>
            <a:r>
              <a:rPr lang="en-US" dirty="0" err="1"/>
              <a:t>em</a:t>
            </a:r>
            <a:r>
              <a:rPr lang="en-US" dirty="0"/>
              <a:t> tempo real.</a:t>
            </a:r>
          </a:p>
          <a:p>
            <a:pPr lvl="1"/>
            <a:r>
              <a:rPr lang="en-US" dirty="0"/>
              <a:t>API chama predict_outlier.py (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o .</a:t>
            </a:r>
            <a:r>
              <a:rPr lang="en-US" dirty="0" err="1"/>
              <a:t>joblib</a:t>
            </a:r>
            <a:r>
              <a:rPr lang="en-US" dirty="0"/>
              <a:t>) e </a:t>
            </a:r>
            <a:r>
              <a:rPr lang="en-US" dirty="0" err="1"/>
              <a:t>retorna</a:t>
            </a:r>
            <a:r>
              <a:rPr lang="en-US" dirty="0"/>
              <a:t> a </a:t>
            </a:r>
            <a:r>
              <a:rPr lang="en-US" dirty="0" err="1"/>
              <a:t>predição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Unity (</a:t>
            </a:r>
            <a:r>
              <a:rPr lang="en-US" dirty="0" err="1"/>
              <a:t>IncidentManager</a:t>
            </a:r>
            <a:r>
              <a:rPr lang="en-US" dirty="0"/>
              <a:t>) </a:t>
            </a:r>
            <a:r>
              <a:rPr lang="en-US" dirty="0" err="1"/>
              <a:t>instancia</a:t>
            </a:r>
            <a:r>
              <a:rPr lang="en-US" dirty="0"/>
              <a:t> o "prefab" de </a:t>
            </a:r>
            <a:r>
              <a:rPr lang="en-US" dirty="0" err="1"/>
              <a:t>incidente</a:t>
            </a:r>
            <a:r>
              <a:rPr lang="en-US" dirty="0"/>
              <a:t>.</a:t>
            </a: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FF5D576D-3182-0ED2-974B-AF63936B58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360" y="1502815"/>
            <a:ext cx="38576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11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3B08-7E7E-1654-E93C-0FF92323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AE0935-2339-6819-58E9-7D00528F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/>
              <a:t>Metodologia (a.4) - Pipeline de Dados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DB8DAD-A626-8362-87A6-E8B3BBDEA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Pipeline 3: Qualidade do Ar (</a:t>
            </a:r>
            <a:r>
              <a:rPr lang="pt-BR" dirty="0" err="1"/>
              <a:t>Qualar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(Idêntico ao Pipeline 2, mas usando qualar_importer.py e os modelos de Classificação/SMOTE)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839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7B37C-B7D3-3D92-7B3B-C2A1E5BD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823587-A401-A920-D8AF-D6794EAA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000" b="1" dirty="0"/>
              <a:t>Experimentos e Resultados (a.5) - Recurso 1: Replay de Clima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CD2990-A195-D536-BAEB-7638E911F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Desafio: Como lidar com gigabytes de arquivos CSV do INMET sem travar o servidor ou a Unity?</a:t>
            </a:r>
          </a:p>
          <a:p>
            <a:r>
              <a:rPr lang="pt-BR" dirty="0"/>
              <a:t>Solução (Catálogo </a:t>
            </a:r>
            <a:r>
              <a:rPr lang="pt-BR" dirty="0" err="1"/>
              <a:t>Sob-Demanda</a:t>
            </a:r>
            <a:r>
              <a:rPr lang="pt-BR" dirty="0"/>
              <a:t>): Implementamos um catalogador que </a:t>
            </a:r>
            <a:r>
              <a:rPr lang="pt-BR" dirty="0" err="1"/>
              <a:t>pré</a:t>
            </a:r>
            <a:r>
              <a:rPr lang="pt-BR" dirty="0"/>
              <a:t>-processa apenas os nomes dos arquivos. A UI filtra instantaneamente.</a:t>
            </a:r>
          </a:p>
          <a:p>
            <a:r>
              <a:rPr lang="pt-BR" dirty="0"/>
              <a:t>Resultado: A API importa apenas o arquivo CSV necessário, </a:t>
            </a:r>
            <a:r>
              <a:rPr lang="pt-BR" dirty="0" err="1"/>
              <a:t>sob-demanda</a:t>
            </a:r>
            <a:r>
              <a:rPr lang="pt-BR" dirty="0"/>
              <a:t>, quando o usuário clica. O </a:t>
            </a:r>
            <a:r>
              <a:rPr lang="pt-BR" dirty="0" err="1"/>
              <a:t>SimulationClock</a:t>
            </a:r>
            <a:r>
              <a:rPr lang="pt-BR" dirty="0"/>
              <a:t> então lê esses dados importados e ajusta o ambiente (chuva, céu)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1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CA77-D89B-8AB5-2179-80DB42AE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C1BCFD-A59F-A2B2-6A3E-F3A444CAE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400" b="1" dirty="0"/>
              <a:t>Experimentos e Resultados (a.5) - Recurso 2: Detecção de Outlier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852C48-0AA3-45F1-C3F6-84AE3EB29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b="1" dirty="0"/>
              <a:t>Objetivo:</a:t>
            </a:r>
            <a:r>
              <a:rPr lang="pt-BR" dirty="0"/>
              <a:t> Detectar anomalias de tráfego (congestionamentos) em tempo real.</a:t>
            </a:r>
          </a:p>
          <a:p>
            <a:r>
              <a:rPr lang="pt-BR" b="1" dirty="0"/>
              <a:t>Experimento:</a:t>
            </a:r>
            <a:endParaRPr lang="pt-BR" dirty="0"/>
          </a:p>
          <a:p>
            <a:pPr lvl="1"/>
            <a:r>
              <a:rPr lang="pt-BR" dirty="0"/>
              <a:t>Sensores 3D na Unity (</a:t>
            </a:r>
            <a:r>
              <a:rPr lang="pt-BR" dirty="0" err="1"/>
              <a:t>VehicleCounterSensor</a:t>
            </a:r>
            <a:r>
              <a:rPr lang="pt-BR" dirty="0"/>
              <a:t>) coletaram dados de tráfego "normal" dos carros-robô.</a:t>
            </a:r>
          </a:p>
          <a:p>
            <a:pPr lvl="1"/>
            <a:r>
              <a:rPr lang="pt-BR" dirty="0"/>
              <a:t>Treinamos o modelo LOF (Local Outlier Factor) com esses dados.</a:t>
            </a:r>
          </a:p>
          <a:p>
            <a:pPr lvl="1"/>
            <a:r>
              <a:rPr lang="pt-BR" dirty="0"/>
              <a:t>API de predição foi ativada.</a:t>
            </a:r>
          </a:p>
          <a:p>
            <a:pPr lvl="1"/>
            <a:r>
              <a:rPr lang="pt-BR" b="1" dirty="0"/>
              <a:t>Teste de Anomalia:</a:t>
            </a:r>
            <a:r>
              <a:rPr lang="pt-BR" dirty="0"/>
              <a:t> Forçamos um carro-robô a parar dentro do sensor (desativando seu script de IA).</a:t>
            </a:r>
          </a:p>
          <a:p>
            <a:r>
              <a:rPr lang="pt-BR" b="1" dirty="0"/>
              <a:t>Resultado:</a:t>
            </a:r>
            <a:r>
              <a:rPr lang="pt-BR" dirty="0"/>
              <a:t> O sistema detectou com sucesso o "outlier" (carro parado) e instanciou um "</a:t>
            </a:r>
            <a:r>
              <a:rPr lang="pt-BR" dirty="0" err="1"/>
              <a:t>prefab</a:t>
            </a:r>
            <a:r>
              <a:rPr lang="pt-BR" dirty="0"/>
              <a:t>" de incidente (carro quebrado) no local.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905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EEFCC-D395-4ADF-CD5C-6B5BE610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A9405F-803D-AE22-081D-0C76CF38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Experimentos e Resultados (a.5) - Recurso 3: Classificação</a:t>
            </a:r>
            <a:endParaRPr lang="en-US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F1C511-4FF0-5905-E6B2-FE795644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Objetivo: Prever a qualidade do ar (Boa, Moderada, Alerta) baseada no contexto (hora, dia, mês).</a:t>
            </a:r>
          </a:p>
          <a:p>
            <a:r>
              <a:rPr lang="pt-BR" dirty="0"/>
              <a:t>Desafio: A API oficial da CETESB se mostrou inacessível (bloqueando todas as requisições de filtro).</a:t>
            </a:r>
          </a:p>
          <a:p>
            <a:r>
              <a:rPr lang="pt-BR" dirty="0"/>
              <a:t>Solução (Plano B): Implementamos um pipeline de dados local. Criamos um catálogo (build_qualar_catalog.js) para ler arquivos CSV locais (</a:t>
            </a:r>
            <a:r>
              <a:rPr lang="pt-BR" dirty="0" err="1"/>
              <a:t>ex</a:t>
            </a:r>
            <a:r>
              <a:rPr lang="pt-BR" dirty="0"/>
              <a:t>: qualar_2024_bauru_mp10.csv).</a:t>
            </a:r>
          </a:p>
          <a:p>
            <a:r>
              <a:rPr lang="pt-BR" dirty="0"/>
              <a:t>Resultado: A UI filtra os dados locais, importa-os, e o </a:t>
            </a:r>
            <a:r>
              <a:rPr lang="pt-BR" dirty="0" err="1"/>
              <a:t>SimulationClock</a:t>
            </a:r>
            <a:r>
              <a:rPr lang="pt-BR" dirty="0"/>
              <a:t> chama a API de predição, exibindo a classe prevista ("Boa", "Moderada") e a confiança na 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05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81E0-16EC-4915-04E0-149A635C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CEFE5C-6E4A-F25A-FDE9-57DB32867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400" b="1" dirty="0"/>
              <a:t>Discussão (a.5) - O Desafio dos Dados Desbalanceados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A13534-9CD0-D6CB-1423-D4CE89899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Problema (Dados Reais): Dados de qualidade do ar eram altamente desbalanceados. (</a:t>
            </a:r>
            <a:r>
              <a:rPr lang="pt-BR" dirty="0" err="1"/>
              <a:t>Ex</a:t>
            </a:r>
            <a:r>
              <a:rPr lang="pt-BR" dirty="0"/>
              <a:t>: Boa: 5208 registros, </a:t>
            </a:r>
            <a:r>
              <a:rPr lang="pt-BR" dirty="0" err="1"/>
              <a:t>vs</a:t>
            </a:r>
            <a:r>
              <a:rPr lang="pt-BR" dirty="0"/>
              <a:t> Alerta: 149 registros).</a:t>
            </a:r>
          </a:p>
          <a:p>
            <a:r>
              <a:rPr lang="pt-BR" dirty="0"/>
              <a:t>Solução (SMOTE): Aplicamos a técnica SMOTE, que criou amostras sintéticas das classes "Moderada" e "Alerta" até que todas tivessem 5208 registros.</a:t>
            </a:r>
          </a:p>
          <a:p>
            <a:r>
              <a:rPr lang="pt-BR" dirty="0"/>
              <a:t>Discussão (Resultados):</a:t>
            </a:r>
          </a:p>
          <a:p>
            <a:pPr lvl="1"/>
            <a:r>
              <a:rPr lang="pt-BR" dirty="0"/>
              <a:t>O modelo treinado (com SMOTE) teve uma acurácia geral de 83%.</a:t>
            </a:r>
          </a:p>
          <a:p>
            <a:pPr lvl="1"/>
            <a:r>
              <a:rPr lang="pt-BR" dirty="0"/>
              <a:t>Insight: O F1-Score (que mede a precisão) foi excelente para "Boa" (0.91), mas muito baixo para "Alerta" (0.14).</a:t>
            </a:r>
          </a:p>
          <a:p>
            <a:pPr lvl="1"/>
            <a:r>
              <a:rPr lang="pt-BR" dirty="0"/>
              <a:t>Conclusão Acadêmica: Isso mostra que, mesmo com SMOTE, prever eventos raros é um desafio complexo. O modelo aprendeu a "apostar no seguro" (prever "Boa"), indicando que features adicionais (como dados de clima) seriam necessárias para melhorar a predição de alertas.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63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1C78-CB1C-DBBD-1140-3B79443E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B3F1C1-0EEE-67EC-C354-C3EEAD77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Conclusão (a.6)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4A61A0-418B-DDFD-D042-23FFF5ADE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b="1" dirty="0"/>
              <a:t>Trabalho Realizado:</a:t>
            </a:r>
            <a:r>
              <a:rPr lang="pt-BR" dirty="0"/>
              <a:t> Foi construída com sucesso uma plataforma de Gêmeo Digital funcional, integrando Unity, Node.js, Python e </a:t>
            </a:r>
            <a:r>
              <a:rPr lang="pt-BR" dirty="0" err="1"/>
              <a:t>MongoDB</a:t>
            </a:r>
            <a:r>
              <a:rPr lang="pt-BR" dirty="0"/>
              <a:t>.</a:t>
            </a:r>
          </a:p>
          <a:p>
            <a:r>
              <a:rPr lang="pt-BR" b="1" dirty="0"/>
              <a:t>Resultados (Atividades):</a:t>
            </a:r>
            <a:endParaRPr lang="pt-BR" dirty="0"/>
          </a:p>
          <a:p>
            <a:pPr lvl="1"/>
            <a:r>
              <a:rPr lang="pt-BR" dirty="0"/>
              <a:t>Replay de clima (INMET) </a:t>
            </a:r>
            <a:r>
              <a:rPr lang="pt-BR" dirty="0" err="1"/>
              <a:t>sob-demanda</a:t>
            </a:r>
            <a:r>
              <a:rPr lang="pt-BR" dirty="0"/>
              <a:t> foi implementado.</a:t>
            </a:r>
          </a:p>
          <a:p>
            <a:pPr lvl="1"/>
            <a:r>
              <a:rPr lang="pt-BR" dirty="0"/>
              <a:t>Detecção de Outlier (LOF) em tempo real foi validada.</a:t>
            </a:r>
          </a:p>
          <a:p>
            <a:pPr lvl="1"/>
            <a:r>
              <a:rPr lang="pt-BR" dirty="0"/>
              <a:t>Classificação (</a:t>
            </a:r>
            <a:r>
              <a:rPr lang="pt-BR" dirty="0" err="1"/>
              <a:t>RandomForest</a:t>
            </a:r>
            <a:r>
              <a:rPr lang="pt-BR" dirty="0"/>
              <a:t>) e Balanceamento (SMOTE) foram aplicados com sucesso.</a:t>
            </a:r>
          </a:p>
          <a:p>
            <a:r>
              <a:rPr lang="pt-BR" b="1" dirty="0"/>
              <a:t>Trabalhos Futuros:</a:t>
            </a:r>
            <a:endParaRPr lang="pt-BR" dirty="0"/>
          </a:p>
          <a:p>
            <a:pPr lvl="1"/>
            <a:r>
              <a:rPr lang="pt-BR" dirty="0"/>
              <a:t>Usar a predição (de clima e poluição) para </a:t>
            </a:r>
            <a:r>
              <a:rPr lang="pt-BR" i="1" dirty="0"/>
              <a:t>alterar</a:t>
            </a:r>
            <a:r>
              <a:rPr lang="pt-BR" dirty="0"/>
              <a:t> a simulação (</a:t>
            </a:r>
            <a:r>
              <a:rPr lang="pt-BR" dirty="0" err="1"/>
              <a:t>ex</a:t>
            </a:r>
            <a:r>
              <a:rPr lang="pt-BR" dirty="0"/>
              <a:t>: adicionar névoa de poluição, mudar a rota dos carros).</a:t>
            </a:r>
          </a:p>
          <a:p>
            <a:pPr lvl="1"/>
            <a:r>
              <a:rPr lang="pt-BR" dirty="0"/>
              <a:t>Criar um painel de visualização de dados (dashboard) em HTML que gere gráficos automaticamente a partir dos resultados.</a:t>
            </a:r>
          </a:p>
          <a:p>
            <a:pPr lvl="1"/>
            <a:r>
              <a:rPr lang="pt-BR" dirty="0"/>
              <a:t>Integrar o Gemini para gerar explicações automáticas desses gráficos.</a:t>
            </a:r>
          </a:p>
        </p:txBody>
      </p:sp>
    </p:spTree>
    <p:extLst>
      <p:ext uri="{BB962C8B-B14F-4D97-AF65-F5344CB8AC3E}">
        <p14:creationId xmlns:p14="http://schemas.microsoft.com/office/powerpoint/2010/main" val="15759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F5A843F-811C-A047-325A-EE06F85B2D9B}"/>
              </a:ext>
            </a:extLst>
          </p:cNvPr>
          <p:cNvSpPr txBox="1">
            <a:spLocks/>
          </p:cNvSpPr>
          <p:nvPr/>
        </p:nvSpPr>
        <p:spPr>
          <a:xfrm>
            <a:off x="601670" y="1197404"/>
            <a:ext cx="8246070" cy="3257485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dirty="0">
                <a:solidFill>
                  <a:schemeClr val="bg1"/>
                </a:solidFill>
              </a:rPr>
              <a:t>CRUZ, A. B., et al. (2017). "Detecção de Anomalias no Transporte Rodoviário Urbano". </a:t>
            </a:r>
            <a:r>
              <a:rPr lang="pt-BR" i="1" dirty="0">
                <a:solidFill>
                  <a:schemeClr val="bg1"/>
                </a:solidFill>
              </a:rPr>
              <a:t>Anais do Simpósio Brasileiro de Banco de Dados (SBBD)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marL="0" indent="0" algn="just"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dirty="0">
                <a:solidFill>
                  <a:schemeClr val="bg1"/>
                </a:solidFill>
              </a:rPr>
              <a:t>DELLA-JUSTINA, H. M. (2023). "Avaliação de Técnicas de Classificação Para Dados Desbalanceados". </a:t>
            </a:r>
            <a:r>
              <a:rPr lang="pt-BR" i="1" dirty="0">
                <a:solidFill>
                  <a:schemeClr val="bg1"/>
                </a:solidFill>
              </a:rPr>
              <a:t>Acervo Digital UFPR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marL="0" indent="0" algn="just"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dirty="0">
                <a:solidFill>
                  <a:schemeClr val="bg1"/>
                </a:solidFill>
              </a:rPr>
              <a:t>VIANNA JR, A. S., et al. (2025). "Analisando Dados de Qualidade do Ar por Machine Learning". </a:t>
            </a:r>
            <a:r>
              <a:rPr lang="pt-BR" i="1" dirty="0" err="1">
                <a:solidFill>
                  <a:schemeClr val="bg1"/>
                </a:solidFill>
              </a:rPr>
              <a:t>Periodicos</a:t>
            </a:r>
            <a:r>
              <a:rPr lang="pt-BR" i="1" dirty="0">
                <a:solidFill>
                  <a:schemeClr val="bg1"/>
                </a:solidFill>
              </a:rPr>
              <a:t> FURG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marL="0" indent="0" algn="just"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dirty="0">
                <a:solidFill>
                  <a:schemeClr val="bg1"/>
                </a:solidFill>
              </a:rPr>
              <a:t>Unity Technologies. (2025). "Construa Gêmeos Digitais Industriais".</a:t>
            </a:r>
          </a:p>
          <a:p>
            <a:pPr marL="0" indent="0" algn="just"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dirty="0">
                <a:solidFill>
                  <a:schemeClr val="bg1"/>
                </a:solidFill>
              </a:rPr>
              <a:t>Pedregosa, F. et al. (2011). "</a:t>
            </a:r>
            <a:r>
              <a:rPr lang="pt-BR" dirty="0" err="1">
                <a:solidFill>
                  <a:schemeClr val="bg1"/>
                </a:solidFill>
              </a:rPr>
              <a:t>Scikit-learn</a:t>
            </a:r>
            <a:r>
              <a:rPr lang="pt-BR" dirty="0">
                <a:solidFill>
                  <a:schemeClr val="bg1"/>
                </a:solidFill>
              </a:rPr>
              <a:t>: Machine Learning in Python".</a:t>
            </a:r>
          </a:p>
          <a:p>
            <a:pPr marL="0" indent="0" algn="just"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dirty="0" err="1">
                <a:solidFill>
                  <a:schemeClr val="bg1"/>
                </a:solidFill>
              </a:rPr>
              <a:t>Lemaître</a:t>
            </a:r>
            <a:r>
              <a:rPr lang="pt-BR" dirty="0">
                <a:solidFill>
                  <a:schemeClr val="bg1"/>
                </a:solidFill>
              </a:rPr>
              <a:t>, G. et al. (2017). "</a:t>
            </a:r>
            <a:r>
              <a:rPr lang="pt-BR" dirty="0" err="1">
                <a:solidFill>
                  <a:schemeClr val="bg1"/>
                </a:solidFill>
              </a:rPr>
              <a:t>Imbalanced-learn</a:t>
            </a:r>
            <a:r>
              <a:rPr lang="pt-BR" dirty="0">
                <a:solidFill>
                  <a:schemeClr val="bg1"/>
                </a:solidFill>
              </a:rPr>
              <a:t>: A Python Toolbox </a:t>
            </a:r>
            <a:r>
              <a:rPr lang="pt-BR" dirty="0" err="1">
                <a:solidFill>
                  <a:schemeClr val="bg1"/>
                </a:solidFill>
              </a:rPr>
              <a:t>to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Tackle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the</a:t>
            </a:r>
            <a:r>
              <a:rPr lang="pt-BR" dirty="0">
                <a:solidFill>
                  <a:schemeClr val="bg1"/>
                </a:solidFill>
              </a:rPr>
              <a:t> Curse </a:t>
            </a:r>
            <a:r>
              <a:rPr lang="pt-BR" dirty="0" err="1">
                <a:solidFill>
                  <a:schemeClr val="bg1"/>
                </a:solidFill>
              </a:rPr>
              <a:t>of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Imbalanced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Datasets</a:t>
            </a:r>
            <a:r>
              <a:rPr lang="pt-BR" dirty="0">
                <a:solidFill>
                  <a:schemeClr val="bg1"/>
                </a:solidFill>
              </a:rPr>
              <a:t>".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CE4F76B-E0EB-B6A1-6444-D3FB138EE8CB}"/>
              </a:ext>
            </a:extLst>
          </p:cNvPr>
          <p:cNvSpPr txBox="1">
            <a:spLocks/>
          </p:cNvSpPr>
          <p:nvPr/>
        </p:nvSpPr>
        <p:spPr>
          <a:xfrm>
            <a:off x="-314560" y="128470"/>
            <a:ext cx="6425940" cy="76352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Bibliografia (a.7)</a:t>
            </a:r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Feature 1</a:t>
            </a:r>
          </a:p>
          <a:p>
            <a:r>
              <a:rPr lang="en-US" dirty="0"/>
              <a:t>Feature 2</a:t>
            </a:r>
          </a:p>
          <a:p>
            <a:r>
              <a:rPr lang="en-US" dirty="0"/>
              <a:t>Feature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Product 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Feature 1</a:t>
            </a:r>
          </a:p>
          <a:p>
            <a:r>
              <a:rPr lang="en-US" dirty="0"/>
              <a:t>Feature 2</a:t>
            </a:r>
          </a:p>
          <a:p>
            <a:r>
              <a:rPr lang="en-US" dirty="0"/>
              <a:t>Feature 3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2663</Words>
  <Application>Microsoft Office PowerPoint</Application>
  <PresentationFormat>Apresentação na tela (16:9)</PresentationFormat>
  <Paragraphs>172</Paragraphs>
  <Slides>19</Slides>
  <Notes>16</Notes>
  <HiddenSlides>1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SmartCitySystem: Um Gêmeo Digital para Simulação Urbana e Análise de Dados de Mineração</vt:lpstr>
      <vt:lpstr>Principais Assuntos</vt:lpstr>
      <vt:lpstr>Introdução e Contexto (a.1)</vt:lpstr>
      <vt:lpstr>Problema e Objetivos (a.1)</vt:lpstr>
      <vt:lpstr>Problema e Objetivos (a.1)</vt:lpstr>
      <vt:lpstr>Trabalhos Relacionados (a.2)</vt:lpstr>
      <vt:lpstr>Fundamentos (a.3) - Conceitos Chave</vt:lpstr>
      <vt:lpstr>Fundamentos (a.3) - Mineração de Dados</vt:lpstr>
      <vt:lpstr>Metodologia (a.4) - Arquitetura do Sistema</vt:lpstr>
      <vt:lpstr>Metodologia (a.4) - Pipeline de Dados</vt:lpstr>
      <vt:lpstr>Metodologia (a.4) - Pipeline de Dados</vt:lpstr>
      <vt:lpstr>Metodologia (a.4) - Pipeline de Dados</vt:lpstr>
      <vt:lpstr>Experimentos e Resultados (a.5) - Recurso 1: Replay de Clima</vt:lpstr>
      <vt:lpstr>Experimentos e Resultados (a.5) - Recurso 2: Detecção de Outlier</vt:lpstr>
      <vt:lpstr>Experimentos e Resultados (a.5) - Recurso 3: Classificação</vt:lpstr>
      <vt:lpstr>Discussão (a.5) - O Desafio dos Dados Desbalanceados</vt:lpstr>
      <vt:lpstr>Conclusão (a.6)</vt:lpstr>
      <vt:lpstr>Apresentação do PowerPoint</vt:lpstr>
      <vt:lpstr>Slide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2025-11-09T09:42:38Z</dcterms:modified>
</cp:coreProperties>
</file>